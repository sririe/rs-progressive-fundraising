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8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slideLayout" Target="../slideLayouts/slideLayout10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961323"/>
            <a:ext cx="2663071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3036927"/>
            <a:ext cx="23756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GIFT CARDS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493532"/>
            <a:ext cx="67619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Where We Go From Here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54247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Doug, you asked us to come back with a clear recommendation. We've done that work — and what we found is that before we can responsibly point you in the right direction, one critical step has to happen first.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04793"/>
            <a:ext cx="154912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72778"/>
            <a:ext cx="127694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21763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Three Things Are True About Your Digital Business Right Now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479483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479483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736777"/>
            <a:ext cx="299668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Single Point of Failure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4227195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runs through one person — one set of scripts, one machine, one person's knowledge. If that person is unavailable, digital fulfillment stops entirely.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3479483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86482" y="3479483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5565696" y="37367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Delivery Is Fragile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4227195"/>
            <a:ext cx="359033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email attachments trigger spam filters, customers lose passwords, and every failed delivery creates a support ticket. The move toward URL-based delivery is right — but the process is still manual.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3479483"/>
            <a:ext cx="4196358" cy="3545324"/>
          </a:xfrm>
          <a:prstGeom prst="roundRect">
            <a:avLst>
              <a:gd name="adj" fmla="val 4127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09653" y="3479483"/>
            <a:ext cx="121920" cy="3545324"/>
          </a:xfrm>
          <a:prstGeom prst="roundRect">
            <a:avLst>
              <a:gd name="adj" fmla="val 78139"/>
            </a:avLst>
          </a:prstGeom>
          <a:solidFill>
            <a:srgbClr val="4950BC"/>
          </a:solidFill>
          <a:ln/>
        </p:spPr>
      </p:sp>
      <p:sp>
        <p:nvSpPr>
          <p:cNvPr id="15" name="Text 13"/>
          <p:cNvSpPr/>
          <p:nvPr/>
        </p:nvSpPr>
        <p:spPr>
          <a:xfrm>
            <a:off x="9988868" y="3736777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Back-Office Doesn't Connect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4581525"/>
            <a:ext cx="35903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Orders come in through a web form, generate an email, and someone manually creates an invoice in QuickBooks. No sync. No automation.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01948"/>
            <a:ext cx="141458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69933"/>
            <a:ext cx="11424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INSIGHT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818918"/>
            <a:ext cx="907553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Learned Along the Way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630436" y="2867858"/>
            <a:ext cx="6571417" cy="4059674"/>
          </a:xfrm>
          <a:prstGeom prst="roundRect">
            <a:avLst>
              <a:gd name="adj" fmla="val 4023"/>
            </a:avLst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857250" y="3094673"/>
            <a:ext cx="4399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Gift Cards Are Cash Equivalents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7250" y="3675817"/>
            <a:ext cx="6117788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card numbers Progressive handles represent transferable monetary value — functionally the same as cash. That's not a minor detail. It changes the entire security conversation.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071932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we dug into what a solution looks like, our technical team flagged something that can't be overlooked.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001810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system that touches these card numbers must be treated with the same seriousness as a financial system — because that's exactly what it is.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7599521" y="5345668"/>
            <a:ext cx="6244709" cy="1326713"/>
          </a:xfrm>
          <a:prstGeom prst="roundRect">
            <a:avLst>
              <a:gd name="adj" fmla="val 7181"/>
            </a:avLst>
          </a:prstGeom>
          <a:solidFill>
            <a:srgbClr val="C7C9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6335" y="5689759"/>
            <a:ext cx="283488" cy="22681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336637" y="5629156"/>
            <a:ext cx="528077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realization is what shapes everything that follows.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93708"/>
            <a:ext cx="1970723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61693"/>
            <a:ext cx="169854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REALITY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10678"/>
            <a:ext cx="79526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That Means In Practice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6596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0906" y="2737485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Card data security is a first-class concern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3582233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Encryption, access controls, and audit logging are the baseline — not optional extras. Any system touching card numbers must start here.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56884" y="265961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94000" y="2737485"/>
            <a:ext cx="564261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workflows are more complex than they appear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194000" y="358223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Walmart, Amazon, Loblaws, Chapters — each vendor likely has different formats, validation rules, and delivery requirements.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1245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0906" y="5202436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URL-based delivery introduces its own risk surface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30906" y="6047184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Link-based retrieval requires signed URLs, expiration policies, and brute-force protection to be done securely.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7456884" y="512456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94000" y="5202436"/>
            <a:ext cx="49393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current process carries risk too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194000" y="5692854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Scripts on a local machine with card data in spreadsheets is not a secure baseline. Doing nothing is still a security decision.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54442"/>
            <a:ext cx="1878687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322427"/>
            <a:ext cx="16065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QUESTIONS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771412"/>
            <a:ext cx="110574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 We Need to Answer Together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82035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answers to these questions directly shape what the right solution looks like. Before we can recommend anything responsibly, we need clarity on: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801308"/>
            <a:ext cx="3090505" cy="3173849"/>
          </a:xfrm>
          <a:prstGeom prst="roundRect">
            <a:avLst>
              <a:gd name="adj" fmla="val 3083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084" y="4058602"/>
            <a:ext cx="25759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Risk Exposure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084" y="4549021"/>
            <a:ext cx="257591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Progressive's current risk profile look like for digital card operations?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4111109" y="3801308"/>
            <a:ext cx="3090624" cy="3173849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8403" y="4058602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Insurance Coverage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68403" y="4903351"/>
            <a:ext cx="257603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there business insurance in place that covers digital gift card operations or data loss?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3801308"/>
            <a:ext cx="3090624" cy="3173849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5842" y="4058602"/>
            <a:ext cx="257603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Requirements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85842" y="4903351"/>
            <a:ext cx="2576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 vendors raised security requirements or compliance expectations — formally or informally?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10745986" y="3801308"/>
            <a:ext cx="3090624" cy="3173849"/>
          </a:xfrm>
          <a:prstGeom prst="roundRect">
            <a:avLst>
              <a:gd name="adj" fmla="val 3082"/>
            </a:avLst>
          </a:prstGeom>
          <a:solidFill>
            <a:srgbClr val="FFFFFF"/>
          </a:solidFill>
          <a:ln w="3048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003280" y="4058602"/>
            <a:ext cx="257603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Past Incidents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003280" y="4549021"/>
            <a:ext cx="257603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Have there been any incidents — even minor — involving card data, failed deliveries, or unauthorized access?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99116"/>
            <a:ext cx="177653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567101"/>
            <a:ext cx="150435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REASONING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16085"/>
            <a:ext cx="92294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Discovery Has to Come First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269099"/>
            <a:ext cx="692443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could sketch architectures and put price tags on them today. But the honest truth: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133951" y="4250055"/>
            <a:ext cx="6584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solution we propose before fully understanding the vendor workflows and security posture is guesswork.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250055"/>
            <a:ext cx="30480" cy="725805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5231011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Guesswork leads to scoped-wrong builds, security gaps discovered after launch, and rework that costs more than getting it right the first time.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8279249" y="3291840"/>
            <a:ext cx="34443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We Don't Know Yet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79249" y="3872984"/>
            <a:ext cx="5564862" cy="2778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Exactly what the scripts do for each vendor — inputs, outputs, edge cases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vendor integrations involve APIs, file uploads, portal logins, or something else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card data Progressive owns at each stage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security boundaries are today vs. where they need to be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00839"/>
            <a:ext cx="99798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068824"/>
            <a:ext cx="7258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17809"/>
            <a:ext cx="1178587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Structured Discovery — What It Looks Like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25667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half-day working session with Lloyd at your office. Danny leads on-site, Spencer joins remotely. Every vendor workflow documented end-to-end.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547705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8224" y="378213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969187"/>
            <a:ext cx="306110" cy="3061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28224" y="46893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Vendor Runbooks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28224" y="5179814"/>
            <a:ext cx="372749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documentation for every vendor. Mario or a new hire could follow them immediately. Standalone value regardless of what comes next.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3547705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51396" y="378213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969187"/>
            <a:ext cx="306110" cy="306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51396" y="4689396"/>
            <a:ext cx="32432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Specification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51396" y="5179814"/>
            <a:ext cx="372749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recommendation with real numbers — informed by what actually happens in practice, not assumptions.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40133" y="3547705"/>
            <a:ext cx="4196358" cy="3681055"/>
          </a:xfrm>
          <a:prstGeom prst="roundRect">
            <a:avLst>
              <a:gd name="adj" fmla="val 258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874568" y="378213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969187"/>
            <a:ext cx="306110" cy="3061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74568" y="4689396"/>
            <a:ext cx="295822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Security Assessment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9874568" y="5179814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card data lives, how it moves, and what the risk profile looks like at every stage.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17471"/>
            <a:ext cx="1450658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785455"/>
            <a:ext cx="117848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INVESTMENT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34440"/>
            <a:ext cx="67459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Engagement Details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538532"/>
            <a:ext cx="6924437" cy="4718447"/>
          </a:xfrm>
          <a:prstGeom prst="roundRect">
            <a:avLst>
              <a:gd name="adj" fmla="val 201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1410" y="2546152"/>
            <a:ext cx="690919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28343" y="2689860"/>
            <a:ext cx="19607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450312" y="2689860"/>
            <a:ext cx="4033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Half-day structured discovery session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559373"/>
            <a:ext cx="690919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343" y="3703082"/>
            <a:ext cx="19607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450312" y="3703082"/>
            <a:ext cx="4033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Danny (on-site), Spencer (remote), Lloyd, Mario (observer)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01410" y="4572595"/>
            <a:ext cx="6909197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28343" y="4716304"/>
            <a:ext cx="19607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3450312" y="4716304"/>
            <a:ext cx="40334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2026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801410" y="5222915"/>
            <a:ext cx="6909197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28343" y="5366623"/>
            <a:ext cx="19607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&amp; Cost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3450312" y="5366623"/>
            <a:ext cx="4033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$6,750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| 40 hours (prep, session, and deliverables)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801410" y="6236137"/>
            <a:ext cx="6909197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28343" y="6379845"/>
            <a:ext cx="19607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450312" y="6379845"/>
            <a:ext cx="403348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runbooks, technical spec, security assessment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8115895" y="2283381"/>
            <a:ext cx="5891570" cy="5228749"/>
          </a:xfrm>
          <a:prstGeom prst="roundRect">
            <a:avLst>
              <a:gd name="adj" fmla="val 3123"/>
            </a:avLst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8342709" y="2510195"/>
            <a:ext cx="43049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This Is the Right First Step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42709" y="3091339"/>
            <a:ext cx="54379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smallest commitment with the highest information value.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unlocks everything that follows — with confidence instead of guesswork.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28543"/>
            <a:ext cx="1437561" cy="397907"/>
          </a:xfrm>
          <a:prstGeom prst="roundRect">
            <a:avLst>
              <a:gd name="adj" fmla="val 18196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22972" y="793075"/>
            <a:ext cx="1179195" cy="268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WHAT'S NEXT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93790" y="1208246"/>
            <a:ext cx="8121968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Happens After Discovery</a:t>
            </a:r>
            <a:endParaRPr lang="en-US" sz="4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7336" y="2188726"/>
            <a:ext cx="9635609" cy="4409837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27278" y="3289744"/>
            <a:ext cx="619517" cy="61951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875328" y="5377126"/>
            <a:ext cx="1808987" cy="69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with Confidence</a:t>
            </a:r>
            <a:endParaRPr lang="en-US" sz="2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59268" y="3290906"/>
            <a:ext cx="619517" cy="6195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95509" y="5377126"/>
            <a:ext cx="1808987" cy="69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Recommendation</a:t>
            </a:r>
            <a:endParaRPr lang="en-US" sz="2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91839" y="3290906"/>
            <a:ext cx="619516" cy="61951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328079" y="5377126"/>
            <a:ext cx="1808987" cy="696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Runbooks &amp; Specs</a:t>
            </a:r>
            <a:endParaRPr lang="en-US" sz="215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12020" y="3290906"/>
            <a:ext cx="619516" cy="61951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3011089" y="5551365"/>
            <a:ext cx="1808987" cy="348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Discovery</a:t>
            </a:r>
            <a:endParaRPr lang="en-US" sz="2150" dirty="0"/>
          </a:p>
        </p:txBody>
      </p:sp>
      <p:sp>
        <p:nvSpPr>
          <p:cNvPr id="14" name="Text 7"/>
          <p:cNvSpPr/>
          <p:nvPr/>
        </p:nvSpPr>
        <p:spPr>
          <a:xfrm>
            <a:off x="793790" y="6828830"/>
            <a:ext cx="13042821" cy="672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Everything discussed in January — the card generation tool, the order platform, the customer portal — is still on the table. Discovery is how we get there responsibly, with real numbers backed by real understanding.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7634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Single Action That Moves Everything Forward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98821"/>
            <a:ext cx="13042821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4133255"/>
            <a:ext cx="526553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📅</a:t>
            </a:r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Schedule the Lloyd Session in April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4623673"/>
            <a:ext cx="1257395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half-day. Three deliverables. A clear path forward. That's all it takes to go from uncertainty to a solution we can all stand behind.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83906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2026-03-17T22:59:43Z</dcterms:created>
  <dcterms:modified xsi:type="dcterms:W3CDTF">2026-03-17T22:59:43Z</dcterms:modified>
</cp:coreProperties>
</file>